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Anton Italics" charset="1" panose="00000500000000000000"/>
      <p:regular r:id="rId24"/>
    </p:embeddedFont>
    <p:embeddedFont>
      <p:font typeface="Open Sauce Bold" charset="1" panose="00000800000000000000"/>
      <p:regular r:id="rId25"/>
    </p:embeddedFont>
    <p:embeddedFont>
      <p:font typeface="Open Sauce" charset="1" panose="00000500000000000000"/>
      <p:regular r:id="rId26"/>
    </p:embeddedFont>
    <p:embeddedFont>
      <p:font typeface="Open Sauce Semi-Bold" charset="1" panose="00000700000000000000"/>
      <p:regular r:id="rId27"/>
    </p:embeddedFont>
    <p:embeddedFont>
      <p:font typeface="Open Sauce Italics" charset="1" panose="000005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56230" y="1207225"/>
            <a:ext cx="15175540" cy="4139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15"/>
              </a:lnSpc>
              <a:spcBef>
                <a:spcPct val="0"/>
              </a:spcBef>
            </a:pPr>
            <a:r>
              <a:rPr lang="en-US" sz="24154" i="true" spc="-1062">
                <a:solidFill>
                  <a:srgbClr val="D7FF6F"/>
                </a:solidFill>
                <a:latin typeface="Anton Italics"/>
                <a:ea typeface="Anton Italics"/>
                <a:cs typeface="Anton Italics"/>
                <a:sym typeface="Anton Italics"/>
              </a:rPr>
              <a:t>PISTAS PADEL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673007" y="3119906"/>
            <a:ext cx="2038947" cy="2227796"/>
          </a:xfrm>
          <a:custGeom>
            <a:avLst/>
            <a:gdLst/>
            <a:ahLst/>
            <a:cxnLst/>
            <a:rect r="r" b="b" t="t" l="l"/>
            <a:pathLst>
              <a:path h="2227796" w="2038947">
                <a:moveTo>
                  <a:pt x="0" y="0"/>
                </a:moveTo>
                <a:lnTo>
                  <a:pt x="2038947" y="0"/>
                </a:lnTo>
                <a:lnTo>
                  <a:pt x="2038947" y="2227796"/>
                </a:lnTo>
                <a:lnTo>
                  <a:pt x="0" y="2227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21546" t="-183048" r="-175386" b="-26471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328898" y="4939298"/>
            <a:ext cx="2007578" cy="1867055"/>
          </a:xfrm>
          <a:custGeom>
            <a:avLst/>
            <a:gdLst/>
            <a:ahLst/>
            <a:cxnLst/>
            <a:rect r="r" b="b" t="t" l="l"/>
            <a:pathLst>
              <a:path h="1867055" w="2007578">
                <a:moveTo>
                  <a:pt x="0" y="0"/>
                </a:moveTo>
                <a:lnTo>
                  <a:pt x="2007578" y="0"/>
                </a:lnTo>
                <a:lnTo>
                  <a:pt x="2007578" y="1867055"/>
                </a:lnTo>
                <a:lnTo>
                  <a:pt x="0" y="18670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5627" t="-315863" r="-595320" b="-237737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761046" y="2861442"/>
            <a:ext cx="4732963" cy="1486290"/>
            <a:chOff x="0" y="0"/>
            <a:chExt cx="1246542" cy="3914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46542" cy="391451"/>
            </a:xfrm>
            <a:custGeom>
              <a:avLst/>
              <a:gdLst/>
              <a:ahLst/>
              <a:cxnLst/>
              <a:rect r="r" b="b" t="t" l="l"/>
              <a:pathLst>
                <a:path h="391451" w="1246542">
                  <a:moveTo>
                    <a:pt x="0" y="0"/>
                  </a:moveTo>
                  <a:lnTo>
                    <a:pt x="1246542" y="0"/>
                  </a:lnTo>
                  <a:lnTo>
                    <a:pt x="1246542" y="391451"/>
                  </a:lnTo>
                  <a:lnTo>
                    <a:pt x="0" y="391451"/>
                  </a:lnTo>
                  <a:close/>
                </a:path>
              </a:pathLst>
            </a:custGeom>
            <a:gradFill rotWithShape="true">
              <a:gsLst>
                <a:gs pos="0">
                  <a:srgbClr val="D7FF6F">
                    <a:alpha val="100000"/>
                  </a:srgbClr>
                </a:gs>
                <a:gs pos="100000">
                  <a:srgbClr val="D7FF6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57150"/>
              <a:ext cx="1246542" cy="334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22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270398" y="593983"/>
            <a:ext cx="6576062" cy="3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07"/>
              </a:lnSpc>
            </a:pPr>
            <a:r>
              <a:rPr lang="en-US" b="true" sz="3161" spc="-158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MASTER EN DESARROLLO CON IA</a:t>
            </a:r>
          </a:p>
        </p:txBody>
      </p:sp>
      <p:grpSp>
        <p:nvGrpSpPr>
          <p:cNvPr name="Group 10" id="10"/>
          <p:cNvGrpSpPr/>
          <p:nvPr/>
        </p:nvGrpSpPr>
        <p:grpSpPr>
          <a:xfrm rot="10732914">
            <a:off x="13300658" y="5883461"/>
            <a:ext cx="5734432" cy="1486290"/>
            <a:chOff x="0" y="0"/>
            <a:chExt cx="1510303" cy="3914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10303" cy="391451"/>
            </a:xfrm>
            <a:custGeom>
              <a:avLst/>
              <a:gdLst/>
              <a:ahLst/>
              <a:cxnLst/>
              <a:rect r="r" b="b" t="t" l="l"/>
              <a:pathLst>
                <a:path h="391451" w="1510303">
                  <a:moveTo>
                    <a:pt x="0" y="0"/>
                  </a:moveTo>
                  <a:lnTo>
                    <a:pt x="1510303" y="0"/>
                  </a:lnTo>
                  <a:lnTo>
                    <a:pt x="1510303" y="391451"/>
                  </a:lnTo>
                  <a:lnTo>
                    <a:pt x="0" y="391451"/>
                  </a:lnTo>
                  <a:close/>
                </a:path>
              </a:pathLst>
            </a:custGeom>
            <a:gradFill rotWithShape="true">
              <a:gsLst>
                <a:gs pos="0">
                  <a:srgbClr val="D7FF6F">
                    <a:alpha val="100000"/>
                  </a:srgbClr>
                </a:gs>
                <a:gs pos="100000">
                  <a:srgbClr val="D7FF6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1510303" cy="334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22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42374" y="9152239"/>
            <a:ext cx="702069" cy="106061"/>
            <a:chOff x="0" y="0"/>
            <a:chExt cx="184907" cy="2793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4907" cy="27934"/>
            </a:xfrm>
            <a:custGeom>
              <a:avLst/>
              <a:gdLst/>
              <a:ahLst/>
              <a:cxnLst/>
              <a:rect r="r" b="b" t="t" l="l"/>
              <a:pathLst>
                <a:path h="27934" w="184907">
                  <a:moveTo>
                    <a:pt x="0" y="0"/>
                  </a:moveTo>
                  <a:lnTo>
                    <a:pt x="184907" y="0"/>
                  </a:lnTo>
                  <a:lnTo>
                    <a:pt x="184907" y="27934"/>
                  </a:lnTo>
                  <a:lnTo>
                    <a:pt x="0" y="27934"/>
                  </a:lnTo>
                  <a:close/>
                </a:path>
              </a:pathLst>
            </a:custGeom>
            <a:solidFill>
              <a:srgbClr val="D7FF6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57150"/>
              <a:ext cx="184907" cy="27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22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556230" y="5318109"/>
            <a:ext cx="1517554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 spc="-7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BEATRIZ SÁNCHEZ FRÍAS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FF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4918014" y="1892800"/>
            <a:ext cx="3648019" cy="2059733"/>
            <a:chOff x="0" y="0"/>
            <a:chExt cx="960795" cy="5424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0795" cy="542481"/>
            </a:xfrm>
            <a:custGeom>
              <a:avLst/>
              <a:gdLst/>
              <a:ahLst/>
              <a:cxnLst/>
              <a:rect r="r" b="b" t="t" l="l"/>
              <a:pathLst>
                <a:path h="542481" w="960795">
                  <a:moveTo>
                    <a:pt x="0" y="0"/>
                  </a:moveTo>
                  <a:lnTo>
                    <a:pt x="960795" y="0"/>
                  </a:lnTo>
                  <a:lnTo>
                    <a:pt x="960795" y="542481"/>
                  </a:lnTo>
                  <a:lnTo>
                    <a:pt x="0" y="542481"/>
                  </a:lnTo>
                  <a:close/>
                </a:path>
              </a:pathLst>
            </a:custGeom>
            <a:gradFill rotWithShape="true">
              <a:gsLst>
                <a:gs pos="0">
                  <a:srgbClr val="2F6781">
                    <a:alpha val="100000"/>
                  </a:srgbClr>
                </a:gs>
                <a:gs pos="100000">
                  <a:srgbClr val="2F67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960795" cy="485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2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079819" y="4738998"/>
            <a:ext cx="7917466" cy="1415918"/>
            <a:chOff x="0" y="0"/>
            <a:chExt cx="2085259" cy="3729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85259" cy="372917"/>
            </a:xfrm>
            <a:custGeom>
              <a:avLst/>
              <a:gdLst/>
              <a:ahLst/>
              <a:cxnLst/>
              <a:rect r="r" b="b" t="t" l="l"/>
              <a:pathLst>
                <a:path h="372917" w="2085259">
                  <a:moveTo>
                    <a:pt x="0" y="0"/>
                  </a:moveTo>
                  <a:lnTo>
                    <a:pt x="2085259" y="0"/>
                  </a:lnTo>
                  <a:lnTo>
                    <a:pt x="2085259" y="372917"/>
                  </a:lnTo>
                  <a:lnTo>
                    <a:pt x="0" y="372917"/>
                  </a:lnTo>
                  <a:close/>
                </a:path>
              </a:pathLst>
            </a:custGeom>
            <a:gradFill rotWithShape="true">
              <a:gsLst>
                <a:gs pos="0">
                  <a:srgbClr val="2F6781">
                    <a:alpha val="100000"/>
                  </a:srgbClr>
                </a:gs>
                <a:gs pos="100000">
                  <a:srgbClr val="2F678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57150"/>
              <a:ext cx="2085259" cy="315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22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1990881"/>
            <a:ext cx="15269841" cy="2102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66"/>
              </a:lnSpc>
            </a:pPr>
            <a:r>
              <a:rPr lang="en-US" sz="16811" i="true" spc="-504">
                <a:solidFill>
                  <a:srgbClr val="306781"/>
                </a:solidFill>
                <a:latin typeface="Anton Italics"/>
                <a:ea typeface="Anton Italics"/>
                <a:cs typeface="Anton Italics"/>
                <a:sym typeface="Anton Italics"/>
              </a:rPr>
              <a:t>TABLA DE CONTENIDO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816734" y="4971412"/>
            <a:ext cx="8603751" cy="4510934"/>
            <a:chOff x="0" y="0"/>
            <a:chExt cx="1652177" cy="8662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52177" cy="866234"/>
            </a:xfrm>
            <a:custGeom>
              <a:avLst/>
              <a:gdLst/>
              <a:ahLst/>
              <a:cxnLst/>
              <a:rect r="r" b="b" t="t" l="l"/>
              <a:pathLst>
                <a:path h="866234" w="1652177">
                  <a:moveTo>
                    <a:pt x="203200" y="0"/>
                  </a:moveTo>
                  <a:lnTo>
                    <a:pt x="1652177" y="0"/>
                  </a:lnTo>
                  <a:lnTo>
                    <a:pt x="1448977" y="866234"/>
                  </a:lnTo>
                  <a:lnTo>
                    <a:pt x="0" y="866234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2"/>
              <a:stretch>
                <a:fillRect l="0" t="-98209" r="0" b="-87627"/>
              </a:stretch>
            </a:blipFill>
            <a:ln w="9525" cap="sq">
              <a:solidFill>
                <a:srgbClr val="306781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063949" y="4909748"/>
            <a:ext cx="4438236" cy="199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6"/>
              </a:lnSpc>
            </a:pPr>
            <a:r>
              <a:rPr lang="en-US" sz="1451" spc="-72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OBJETIVO Y ALCANCE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3949" y="4425289"/>
            <a:ext cx="5029658" cy="199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6"/>
              </a:lnSpc>
            </a:pPr>
            <a:r>
              <a:rPr lang="en-US" sz="1451" spc="-72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PROBLEMA Y CONTEXTO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3960" y="5364341"/>
            <a:ext cx="4438236" cy="199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6"/>
              </a:lnSpc>
            </a:pPr>
            <a:r>
              <a:rPr lang="en-US" sz="1451" spc="-72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REQUISITOS Y ROLES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3949" y="5820926"/>
            <a:ext cx="4144555" cy="199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6"/>
              </a:lnSpc>
            </a:pPr>
            <a:r>
              <a:rPr lang="en-US" sz="1451" spc="-72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FUNCIONALIDADES PRINCIPALES</a:t>
            </a:r>
          </a:p>
        </p:txBody>
      </p:sp>
      <p:sp>
        <p:nvSpPr>
          <p:cNvPr name="AutoShape 15" id="15"/>
          <p:cNvSpPr/>
          <p:nvPr/>
        </p:nvSpPr>
        <p:spPr>
          <a:xfrm>
            <a:off x="1013546" y="4648511"/>
            <a:ext cx="4326567" cy="0"/>
          </a:xfrm>
          <a:prstGeom prst="line">
            <a:avLst/>
          </a:prstGeom>
          <a:ln cap="flat" w="9525">
            <a:solidFill>
              <a:srgbClr val="30678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063949" y="5181427"/>
            <a:ext cx="4276164" cy="0"/>
          </a:xfrm>
          <a:prstGeom prst="line">
            <a:avLst/>
          </a:prstGeom>
          <a:ln cap="flat" w="9525">
            <a:solidFill>
              <a:srgbClr val="30678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7222556" y="9062970"/>
            <a:ext cx="513856" cy="88911"/>
            <a:chOff x="0" y="0"/>
            <a:chExt cx="135337" cy="2341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5337" cy="23417"/>
            </a:xfrm>
            <a:custGeom>
              <a:avLst/>
              <a:gdLst/>
              <a:ahLst/>
              <a:cxnLst/>
              <a:rect r="r" b="b" t="t" l="l"/>
              <a:pathLst>
                <a:path h="23417" w="135337">
                  <a:moveTo>
                    <a:pt x="0" y="0"/>
                  </a:moveTo>
                  <a:lnTo>
                    <a:pt x="135337" y="0"/>
                  </a:lnTo>
                  <a:lnTo>
                    <a:pt x="135337" y="23417"/>
                  </a:lnTo>
                  <a:lnTo>
                    <a:pt x="0" y="23417"/>
                  </a:lnTo>
                  <a:close/>
                </a:path>
              </a:pathLst>
            </a:custGeom>
            <a:solidFill>
              <a:srgbClr val="30678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57150"/>
              <a:ext cx="135337" cy="23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22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28700" y="1198680"/>
            <a:ext cx="6576062" cy="341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07"/>
              </a:lnSpc>
            </a:pPr>
            <a:r>
              <a:rPr lang="en-US" b="true" sz="3161" spc="-158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MASTER EN DESARROLLO CON IA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63949" y="6288266"/>
            <a:ext cx="4144555" cy="199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6"/>
              </a:lnSpc>
            </a:pPr>
            <a:r>
              <a:rPr lang="en-US" sz="1451" spc="-72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ARQUITECTURA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13546" y="6754376"/>
            <a:ext cx="4144555" cy="199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6"/>
              </a:lnSpc>
            </a:pPr>
            <a:r>
              <a:rPr lang="en-US" sz="1451" spc="-72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STACK TECNOLÓGICO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3546" y="7163336"/>
            <a:ext cx="4144555" cy="199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6"/>
              </a:lnSpc>
            </a:pPr>
            <a:r>
              <a:rPr lang="en-US" sz="1451" spc="-72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MODELO DE DATOS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7543720"/>
            <a:ext cx="4144555" cy="199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6"/>
              </a:lnSpc>
            </a:pPr>
            <a:r>
              <a:rPr lang="en-US" sz="1451" spc="-72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SEGURIDAD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63949" y="7901523"/>
            <a:ext cx="4144555" cy="199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6"/>
              </a:lnSpc>
            </a:pPr>
            <a:r>
              <a:rPr lang="en-US" sz="1451" spc="-72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PRUEBAS Y CALIDAD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13546" y="8329533"/>
            <a:ext cx="4144555" cy="199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6"/>
              </a:lnSpc>
            </a:pPr>
            <a:r>
              <a:rPr lang="en-US" sz="1451" spc="-72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DEMOSTRACIÓN</a:t>
            </a:r>
          </a:p>
        </p:txBody>
      </p:sp>
      <p:sp>
        <p:nvSpPr>
          <p:cNvPr name="AutoShape 27" id="27"/>
          <p:cNvSpPr/>
          <p:nvPr/>
        </p:nvSpPr>
        <p:spPr>
          <a:xfrm>
            <a:off x="1013546" y="5587563"/>
            <a:ext cx="4326567" cy="0"/>
          </a:xfrm>
          <a:prstGeom prst="line">
            <a:avLst/>
          </a:prstGeom>
          <a:ln cap="flat" w="9525">
            <a:solidFill>
              <a:srgbClr val="30678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1028700" y="6073954"/>
            <a:ext cx="4326567" cy="0"/>
          </a:xfrm>
          <a:prstGeom prst="line">
            <a:avLst/>
          </a:prstGeom>
          <a:ln cap="flat" w="9525">
            <a:solidFill>
              <a:srgbClr val="30678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1013546" y="6492438"/>
            <a:ext cx="4326567" cy="0"/>
          </a:xfrm>
          <a:prstGeom prst="line">
            <a:avLst/>
          </a:prstGeom>
          <a:ln cap="flat" w="9525">
            <a:solidFill>
              <a:srgbClr val="30678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1013546" y="6996648"/>
            <a:ext cx="4326567" cy="0"/>
          </a:xfrm>
          <a:prstGeom prst="line">
            <a:avLst/>
          </a:prstGeom>
          <a:ln cap="flat" w="9525">
            <a:solidFill>
              <a:srgbClr val="30678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1013546" y="7405608"/>
            <a:ext cx="4326567" cy="0"/>
          </a:xfrm>
          <a:prstGeom prst="line">
            <a:avLst/>
          </a:prstGeom>
          <a:ln cap="flat" w="9525">
            <a:solidFill>
              <a:srgbClr val="30678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1028700" y="7766942"/>
            <a:ext cx="4326567" cy="0"/>
          </a:xfrm>
          <a:prstGeom prst="line">
            <a:avLst/>
          </a:prstGeom>
          <a:ln cap="flat" w="9525">
            <a:solidFill>
              <a:srgbClr val="30678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1013546" y="8153320"/>
            <a:ext cx="4326567" cy="0"/>
          </a:xfrm>
          <a:prstGeom prst="line">
            <a:avLst/>
          </a:prstGeom>
          <a:ln cap="flat" w="9525">
            <a:solidFill>
              <a:srgbClr val="30678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1013546" y="8571805"/>
            <a:ext cx="4326567" cy="0"/>
          </a:xfrm>
          <a:prstGeom prst="line">
            <a:avLst/>
          </a:prstGeom>
          <a:ln cap="flat" w="9525">
            <a:solidFill>
              <a:srgbClr val="30678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D7FF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753441"/>
            <a:ext cx="7106921" cy="869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7"/>
              </a:lnSpc>
            </a:pPr>
            <a:r>
              <a:rPr lang="en-US" sz="7041" i="true" spc="-211">
                <a:solidFill>
                  <a:srgbClr val="306781"/>
                </a:solidFill>
                <a:latin typeface="Anton Italics"/>
                <a:ea typeface="Anton Italics"/>
                <a:cs typeface="Anton Italics"/>
                <a:sym typeface="Anton Italics"/>
              </a:rPr>
              <a:t>PROBLEMA Y CONTEXTO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198680"/>
            <a:ext cx="6576062" cy="341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07"/>
              </a:lnSpc>
            </a:pPr>
            <a:r>
              <a:rPr lang="en-US" b="true" sz="3161" spc="-158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MASTER EN DESARROLLO CON IA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07509" y="3062721"/>
            <a:ext cx="16351791" cy="660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2"/>
              </a:lnSpc>
            </a:pPr>
            <a:r>
              <a:rPr lang="en-US" sz="4338" spc="-21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La gestión de las pistas necesita centralizarse.</a:t>
            </a:r>
          </a:p>
          <a:p>
            <a:pPr algn="ctr">
              <a:lnSpc>
                <a:spcPts val="4772"/>
              </a:lnSpc>
            </a:pPr>
          </a:p>
          <a:p>
            <a:pPr algn="l" marL="936694" indent="-468347" lvl="1">
              <a:lnSpc>
                <a:spcPts val="4772"/>
              </a:lnSpc>
              <a:buFont typeface="Arial"/>
              <a:buChar char="•"/>
            </a:pPr>
            <a:r>
              <a:rPr lang="en-US" sz="4338" spc="-21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El club gestiona tres pistas, reservas, usuarios e iluminación.</a:t>
            </a:r>
          </a:p>
          <a:p>
            <a:pPr algn="l" marL="936694" indent="-468347" lvl="1">
              <a:lnSpc>
                <a:spcPts val="4772"/>
              </a:lnSpc>
              <a:buFont typeface="Arial"/>
              <a:buChar char="•"/>
            </a:pPr>
            <a:r>
              <a:rPr lang="en-US" sz="4338" spc="-21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Sin una herramienta centralizada, coordinar horarios y disponibilidad puede generar solapamientos, errores y trabajo manual.</a:t>
            </a:r>
          </a:p>
          <a:p>
            <a:pPr algn="l" marL="936694" indent="-468347" lvl="1">
              <a:lnSpc>
                <a:spcPts val="4772"/>
              </a:lnSpc>
              <a:buFont typeface="Arial"/>
              <a:buChar char="•"/>
            </a:pPr>
            <a:r>
              <a:rPr lang="en-US" sz="4338" spc="-21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También es importante que cada usuario vea únicamente la información que le corresponde.</a:t>
            </a:r>
          </a:p>
          <a:p>
            <a:pPr algn="l" marL="936694" indent="-468347" lvl="1">
              <a:lnSpc>
                <a:spcPts val="4772"/>
              </a:lnSpc>
              <a:buFont typeface="Arial"/>
              <a:buChar char="•"/>
            </a:pPr>
            <a:r>
              <a:rPr lang="en-US" sz="4338" spc="-21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El proyecto desarrolla una aplicación web para </a:t>
            </a:r>
            <a:r>
              <a:rPr lang="en-US" b="true" sz="4338" spc="-216">
                <a:solidFill>
                  <a:srgbClr val="30678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consultar la agenda y gestionar reservas y luces desde un único lugar</a:t>
            </a:r>
            <a:r>
              <a:rPr lang="en-US" sz="4338" spc="-21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 algn="ctr">
              <a:lnSpc>
                <a:spcPts val="477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D7FF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753441"/>
            <a:ext cx="7106921" cy="869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7"/>
              </a:lnSpc>
            </a:pPr>
            <a:r>
              <a:rPr lang="en-US" sz="7041" i="true" spc="-211">
                <a:solidFill>
                  <a:srgbClr val="306781"/>
                </a:solidFill>
                <a:latin typeface="Anton Italics"/>
                <a:ea typeface="Anton Italics"/>
                <a:cs typeface="Anton Italics"/>
                <a:sym typeface="Anton Italics"/>
              </a:rPr>
              <a:t>OBJETIVO Y ALCANCE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198680"/>
            <a:ext cx="6576062" cy="341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07"/>
              </a:lnSpc>
            </a:pPr>
            <a:r>
              <a:rPr lang="en-US" b="true" sz="3161" spc="-158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MASTER EN DESARROLLO CON IA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07509" y="3053196"/>
            <a:ext cx="16351791" cy="741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2"/>
              </a:lnSpc>
            </a:pPr>
            <a:r>
              <a:rPr lang="en-US" sz="3538" spc="-176" b="true">
                <a:solidFill>
                  <a:srgbClr val="30678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Objetivo</a:t>
            </a:r>
          </a:p>
          <a:p>
            <a:pPr algn="l">
              <a:lnSpc>
                <a:spcPts val="3892"/>
              </a:lnSpc>
            </a:pPr>
            <a:r>
              <a:rPr lang="en-US" sz="3538" spc="-17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Desarrollar una aplicación web que centralice la gestión de las pistas de pádel del club y permita consultar la agenda, administrar reservas y controlar la iluminación, con acceso y funciones adaptados al rol de cada usuario.</a:t>
            </a:r>
          </a:p>
          <a:p>
            <a:pPr algn="l">
              <a:lnSpc>
                <a:spcPts val="3892"/>
              </a:lnSpc>
            </a:pPr>
          </a:p>
          <a:p>
            <a:pPr algn="l">
              <a:lnSpc>
                <a:spcPts val="3892"/>
              </a:lnSpc>
            </a:pPr>
            <a:r>
              <a:rPr lang="en-US" sz="3538" spc="-176" b="true">
                <a:solidFill>
                  <a:srgbClr val="30678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Alcance</a:t>
            </a:r>
          </a:p>
          <a:p>
            <a:pPr algn="l">
              <a:lnSpc>
                <a:spcPts val="3892"/>
              </a:lnSpc>
            </a:pPr>
            <a:r>
              <a:rPr lang="en-US" sz="3538" spc="-17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El proyecto incluye:</a:t>
            </a:r>
          </a:p>
          <a:p>
            <a:pPr algn="l" marL="763978" indent="-381989" lvl="1">
              <a:lnSpc>
                <a:spcPts val="3892"/>
              </a:lnSpc>
              <a:buFont typeface="Arial"/>
              <a:buChar char="•"/>
            </a:pPr>
            <a:r>
              <a:rPr lang="en-US" sz="3538" spc="-17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Inicio y cierre de sesión para clientes y administradores.</a:t>
            </a:r>
          </a:p>
          <a:p>
            <a:pPr algn="l" marL="763978" indent="-381989" lvl="1">
              <a:lnSpc>
                <a:spcPts val="3892"/>
              </a:lnSpc>
              <a:buFont typeface="Arial"/>
              <a:buChar char="•"/>
            </a:pPr>
            <a:r>
              <a:rPr lang="en-US" sz="3538" spc="-17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Consulta de disponibilidad y reservas en la agenda.</a:t>
            </a:r>
          </a:p>
          <a:p>
            <a:pPr algn="l" marL="763978" indent="-381989" lvl="1">
              <a:lnSpc>
                <a:spcPts val="3892"/>
              </a:lnSpc>
              <a:buFont typeface="Arial"/>
              <a:buChar char="•"/>
            </a:pPr>
            <a:r>
              <a:rPr lang="en-US" sz="3538" spc="-17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Creación de reservas propias por clientes y gestión de reservas por administradores.</a:t>
            </a:r>
          </a:p>
          <a:p>
            <a:pPr algn="l" marL="763978" indent="-381989" lvl="1">
              <a:lnSpc>
                <a:spcPts val="3892"/>
              </a:lnSpc>
              <a:buFont typeface="Arial"/>
              <a:buChar char="•"/>
            </a:pPr>
            <a:r>
              <a:rPr lang="en-US" sz="3538" spc="-17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Administración de usuarios y control de iluminación para administradores.</a:t>
            </a:r>
          </a:p>
          <a:p>
            <a:pPr algn="l" marL="763978" indent="-381989" lvl="1">
              <a:lnSpc>
                <a:spcPts val="3892"/>
              </a:lnSpc>
              <a:buFont typeface="Arial"/>
              <a:buChar char="•"/>
            </a:pPr>
            <a:r>
              <a:rPr lang="en-US" sz="3538" spc="-17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Persistencia en PostgreSQL, validación de reservas solapadas y pruebas automatizadas.</a:t>
            </a:r>
          </a:p>
          <a:p>
            <a:pPr algn="ctr">
              <a:lnSpc>
                <a:spcPts val="477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D7FF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753441"/>
            <a:ext cx="7106921" cy="869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7"/>
              </a:lnSpc>
            </a:pPr>
            <a:r>
              <a:rPr lang="en-US" sz="7041" i="true" spc="-211">
                <a:solidFill>
                  <a:srgbClr val="306781"/>
                </a:solidFill>
                <a:latin typeface="Anton Italics"/>
                <a:ea typeface="Anton Italics"/>
                <a:cs typeface="Anton Italics"/>
                <a:sym typeface="Anton Italics"/>
              </a:rPr>
              <a:t>REQUISITOS Y ROLES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198680"/>
            <a:ext cx="6576062" cy="341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07"/>
              </a:lnSpc>
            </a:pPr>
            <a:r>
              <a:rPr lang="en-US" b="true" sz="3161" spc="-158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MASTER EN DESARROLLO CON IA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07509" y="3043671"/>
            <a:ext cx="16351791" cy="7590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2"/>
              </a:lnSpc>
            </a:pPr>
            <a:r>
              <a:rPr lang="en-US" sz="3638" spc="-181" b="true">
                <a:solidFill>
                  <a:srgbClr val="30678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Requisitos principales</a:t>
            </a:r>
          </a:p>
          <a:p>
            <a:pPr algn="l" marL="785568" indent="-392784" lvl="1">
              <a:lnSpc>
                <a:spcPts val="4002"/>
              </a:lnSpc>
              <a:buFont typeface="Arial"/>
              <a:buChar char="•"/>
            </a:pPr>
            <a:r>
              <a:rPr lang="en-US" sz="3638" spc="-181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Autenticación con sesiones y permisos comprobados en el servidor.</a:t>
            </a:r>
          </a:p>
          <a:p>
            <a:pPr algn="l" marL="785568" indent="-392784" lvl="1">
              <a:lnSpc>
                <a:spcPts val="4002"/>
              </a:lnSpc>
              <a:buFont typeface="Arial"/>
              <a:buChar char="•"/>
            </a:pPr>
            <a:r>
              <a:rPr lang="en-US" sz="3638" spc="-181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Evitar reservas activas solapadas en una misma pista.</a:t>
            </a:r>
          </a:p>
          <a:p>
            <a:pPr algn="l" marL="785568" indent="-392784" lvl="1">
              <a:lnSpc>
                <a:spcPts val="4002"/>
              </a:lnSpc>
              <a:buFont typeface="Arial"/>
              <a:buChar char="•"/>
            </a:pPr>
            <a:r>
              <a:rPr lang="en-US" sz="3638" spc="-181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Guardar usuarios, reservas y estado de las luces en PostgreSQL.</a:t>
            </a:r>
          </a:p>
          <a:p>
            <a:pPr algn="l" marL="785568" indent="-392784" lvl="1">
              <a:lnSpc>
                <a:spcPts val="4002"/>
              </a:lnSpc>
              <a:buFont typeface="Arial"/>
              <a:buChar char="•"/>
            </a:pPr>
            <a:r>
              <a:rPr lang="en-US" sz="3638" spc="-181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Permitir restablecer contraseñas mediante enlaces temporales.</a:t>
            </a:r>
          </a:p>
          <a:p>
            <a:pPr algn="l" marL="785568" indent="-392784" lvl="1">
              <a:lnSpc>
                <a:spcPts val="4002"/>
              </a:lnSpc>
              <a:buFont typeface="Arial"/>
              <a:buChar char="•"/>
            </a:pPr>
            <a:r>
              <a:rPr lang="en-US" sz="3638" spc="-181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Proteger credenciales y limitar peticiones.</a:t>
            </a:r>
          </a:p>
          <a:p>
            <a:pPr algn="l" marL="785568" indent="-392784" lvl="1">
              <a:lnSpc>
                <a:spcPts val="4002"/>
              </a:lnSpc>
              <a:buFont typeface="Arial"/>
              <a:buChar char="•"/>
            </a:pPr>
            <a:r>
              <a:rPr lang="en-US" sz="3638" spc="-181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Verificar el funcionamiento con pruebas unitarias, de integración y E2E.</a:t>
            </a:r>
          </a:p>
          <a:p>
            <a:pPr algn="l">
              <a:lnSpc>
                <a:spcPts val="4002"/>
              </a:lnSpc>
            </a:pPr>
            <a:r>
              <a:rPr lang="en-US" sz="3638" spc="-181" b="true">
                <a:solidFill>
                  <a:srgbClr val="30678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Roles</a:t>
            </a:r>
          </a:p>
          <a:p>
            <a:pPr algn="l" marL="785568" indent="-392784" lvl="1">
              <a:lnSpc>
                <a:spcPts val="4002"/>
              </a:lnSpc>
              <a:buFont typeface="Arial"/>
              <a:buChar char="•"/>
            </a:pPr>
            <a:r>
              <a:rPr lang="en-US" sz="3638" spc="-181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Cliente (CUSTOMER): consulta la agenda, ve sus reservas y crea reservas propias, que quedan pendientes. Las reservas de otros usuarios se muestran anonimizadas.</a:t>
            </a:r>
          </a:p>
          <a:p>
            <a:pPr algn="l" marL="785568" indent="-392784" lvl="1">
              <a:lnSpc>
                <a:spcPts val="4002"/>
              </a:lnSpc>
              <a:buFont typeface="Arial"/>
              <a:buChar char="•"/>
            </a:pPr>
            <a:r>
              <a:rPr lang="en-US" sz="3638" spc="-181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Administrador (ADMIN): gestiona usuarios y reservas, puede reservar para otros clientes, cambiar estados y controlar la iluminación.</a:t>
            </a:r>
          </a:p>
          <a:p>
            <a:pPr algn="l">
              <a:lnSpc>
                <a:spcPts val="4002"/>
              </a:lnSpc>
            </a:pPr>
          </a:p>
          <a:p>
            <a:pPr algn="just">
              <a:lnSpc>
                <a:spcPts val="400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D7FF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753441"/>
            <a:ext cx="9773119" cy="869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7"/>
              </a:lnSpc>
            </a:pPr>
            <a:r>
              <a:rPr lang="en-US" sz="7041" i="true" spc="-211">
                <a:solidFill>
                  <a:srgbClr val="306781"/>
                </a:solidFill>
                <a:latin typeface="Anton Italics"/>
                <a:ea typeface="Anton Italics"/>
                <a:cs typeface="Anton Italics"/>
                <a:sym typeface="Anton Italics"/>
              </a:rPr>
              <a:t>FUNCIONALIDADES PRINCIPALES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198680"/>
            <a:ext cx="6576062" cy="341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07"/>
              </a:lnSpc>
            </a:pPr>
            <a:r>
              <a:rPr lang="en-US" b="true" sz="3161" spc="-158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MASTER EN DESARROLLO CON IA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07509" y="3043671"/>
            <a:ext cx="16351791" cy="6075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02"/>
              </a:lnSpc>
            </a:pPr>
          </a:p>
          <a:p>
            <a:pPr algn="just" marL="785568" indent="-392784" lvl="1">
              <a:lnSpc>
                <a:spcPts val="4002"/>
              </a:lnSpc>
              <a:buFont typeface="Arial"/>
              <a:buChar char="•"/>
            </a:pPr>
            <a:r>
              <a:rPr lang="en-US" sz="3638" spc="-181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Inicio de sesión y cierre de sesión según el rol del usuario.</a:t>
            </a:r>
          </a:p>
          <a:p>
            <a:pPr algn="just" marL="785568" indent="-392784" lvl="1">
              <a:lnSpc>
                <a:spcPts val="4002"/>
              </a:lnSpc>
              <a:buFont typeface="Arial"/>
              <a:buChar char="•"/>
            </a:pPr>
            <a:r>
              <a:rPr lang="en-US" sz="3638" spc="-181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Consulta de la agenda de las tres pistas por día y franja horaria.</a:t>
            </a:r>
          </a:p>
          <a:p>
            <a:pPr algn="just" marL="785568" indent="-392784" lvl="1">
              <a:lnSpc>
                <a:spcPts val="4002"/>
              </a:lnSpc>
              <a:buFont typeface="Arial"/>
              <a:buChar char="•"/>
            </a:pPr>
            <a:r>
              <a:rPr lang="en-US" sz="3638" spc="-181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Creación de reservas propias por parte de los clientes.</a:t>
            </a:r>
          </a:p>
          <a:p>
            <a:pPr algn="just" marL="785568" indent="-392784" lvl="1">
              <a:lnSpc>
                <a:spcPts val="4002"/>
              </a:lnSpc>
              <a:buFont typeface="Arial"/>
              <a:buChar char="•"/>
            </a:pPr>
            <a:r>
              <a:rPr lang="en-US" sz="3638" spc="-181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Gestión de reservas y usuarios por parte del administrador.</a:t>
            </a:r>
          </a:p>
          <a:p>
            <a:pPr algn="just" marL="785568" indent="-392784" lvl="1">
              <a:lnSpc>
                <a:spcPts val="4002"/>
              </a:lnSpc>
              <a:buFont typeface="Arial"/>
              <a:buChar char="•"/>
            </a:pPr>
            <a:r>
              <a:rPr lang="en-US" sz="3638" spc="-181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Control del estado de iluminación de cada pista.</a:t>
            </a:r>
          </a:p>
          <a:p>
            <a:pPr algn="just" marL="785568" indent="-392784" lvl="1">
              <a:lnSpc>
                <a:spcPts val="4002"/>
              </a:lnSpc>
              <a:buFont typeface="Arial"/>
              <a:buChar char="•"/>
            </a:pPr>
            <a:r>
              <a:rPr lang="en-US" sz="3638" spc="-181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Recuperación de contraseña mediante un enlace temporal.</a:t>
            </a:r>
          </a:p>
          <a:p>
            <a:pPr algn="just" marL="785568" indent="-392784" lvl="1">
              <a:lnSpc>
                <a:spcPts val="4002"/>
              </a:lnSpc>
              <a:buFont typeface="Arial"/>
              <a:buChar char="•"/>
            </a:pPr>
            <a:r>
              <a:rPr lang="en-US" sz="3638" spc="-181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Prevención de reservas activas que se solapen en una misma pista.</a:t>
            </a:r>
          </a:p>
          <a:p>
            <a:pPr algn="just" marL="785568" indent="-392784" lvl="1">
              <a:lnSpc>
                <a:spcPts val="4002"/>
              </a:lnSpc>
              <a:buFont typeface="Arial"/>
              <a:buChar char="•"/>
            </a:pPr>
            <a:r>
              <a:rPr lang="en-US" sz="3638" spc="-181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Protección de los datos: los clientes no pueden consultar la información privada de las reservas de otros usuarios.</a:t>
            </a:r>
          </a:p>
          <a:p>
            <a:pPr algn="just">
              <a:lnSpc>
                <a:spcPts val="4002"/>
              </a:lnSpc>
            </a:pPr>
          </a:p>
          <a:p>
            <a:pPr algn="just">
              <a:lnSpc>
                <a:spcPts val="400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D7FF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753441"/>
            <a:ext cx="9773119" cy="869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7"/>
              </a:lnSpc>
            </a:pPr>
            <a:r>
              <a:rPr lang="en-US" sz="7041" i="true" spc="-211">
                <a:solidFill>
                  <a:srgbClr val="306781"/>
                </a:solidFill>
                <a:latin typeface="Anton Italics"/>
                <a:ea typeface="Anton Italics"/>
                <a:cs typeface="Anton Italics"/>
                <a:sym typeface="Anton Italics"/>
              </a:rPr>
              <a:t>ARQUITECTURA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198680"/>
            <a:ext cx="6576062" cy="341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07"/>
              </a:lnSpc>
            </a:pPr>
            <a:r>
              <a:rPr lang="en-US" b="true" sz="3161" spc="-158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MASTER EN DESARROLLO CON IA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07509" y="3043671"/>
            <a:ext cx="16351791" cy="557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02"/>
              </a:lnSpc>
            </a:pPr>
            <a:r>
              <a:rPr lang="en-US" sz="3638" spc="-181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La apl</a:t>
            </a:r>
            <a:r>
              <a:rPr lang="en-US" sz="3638" spc="-181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icación está construida como un </a:t>
            </a:r>
            <a:r>
              <a:rPr lang="en-US" b="true" sz="3638" spc="-181">
                <a:solidFill>
                  <a:srgbClr val="30678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monolito modular</a:t>
            </a:r>
            <a:r>
              <a:rPr lang="en-US" sz="3638" spc="-181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 con Next.js. La interfaz React presenta la agenda y permite iniciar acciones; las rutas API reciben las solicitudes, validan los datos y comprueban los permisos. Los casos de uso concentra</a:t>
            </a:r>
            <a:r>
              <a:rPr lang="en-US" sz="3638" spc="-181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n las reglas de negocio, y Prisma gestiona el acceso a PostgreSQL.</a:t>
            </a:r>
          </a:p>
          <a:p>
            <a:pPr algn="just">
              <a:lnSpc>
                <a:spcPts val="4002"/>
              </a:lnSpc>
            </a:pPr>
          </a:p>
          <a:p>
            <a:pPr algn="just">
              <a:lnSpc>
                <a:spcPts val="4002"/>
              </a:lnSpc>
            </a:pPr>
            <a:r>
              <a:rPr lang="en-US" sz="3638" spc="-181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Los servicios externos se utilizan para funciones específicas: Upstash Redis comparte los límites de peticiones en producción y Resend envía los correos de recuperación de contraseña. La aplicación también cuenta con pruebas unitarias, de integración y E2E, ejecutadas parcialmente en CI.</a:t>
            </a:r>
          </a:p>
          <a:p>
            <a:pPr algn="just">
              <a:lnSpc>
                <a:spcPts val="4002"/>
              </a:lnSpc>
            </a:pPr>
          </a:p>
          <a:p>
            <a:pPr algn="just">
              <a:lnSpc>
                <a:spcPts val="400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D7FF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753441"/>
            <a:ext cx="9773119" cy="869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7"/>
              </a:lnSpc>
            </a:pPr>
            <a:r>
              <a:rPr lang="en-US" sz="7041" i="true" spc="-211">
                <a:solidFill>
                  <a:srgbClr val="306781"/>
                </a:solidFill>
                <a:latin typeface="Anton Italics"/>
                <a:ea typeface="Anton Italics"/>
                <a:cs typeface="Anton Italics"/>
                <a:sym typeface="Anton Italics"/>
              </a:rPr>
              <a:t>STACK TECNOLÓGICO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198680"/>
            <a:ext cx="6576062" cy="341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07"/>
              </a:lnSpc>
            </a:pPr>
            <a:r>
              <a:rPr lang="en-US" b="true" sz="3161" spc="-158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MASTER EN DESARROLLO CON IA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07509" y="3043671"/>
            <a:ext cx="16351791" cy="6580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85568" indent="-392784" lvl="1">
              <a:lnSpc>
                <a:spcPts val="4002"/>
              </a:lnSpc>
              <a:buFont typeface="Arial"/>
              <a:buChar char="•"/>
            </a:pPr>
            <a:r>
              <a:rPr lang="en-US" b="true" sz="3638" spc="-181">
                <a:solidFill>
                  <a:srgbClr val="30678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Frontend:</a:t>
            </a:r>
            <a:r>
              <a:rPr lang="en-US" sz="3638" spc="-181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 Next.js 16, React 19 y TypeScript 5.9.</a:t>
            </a:r>
          </a:p>
          <a:p>
            <a:pPr algn="just" marL="785568" indent="-392784" lvl="1">
              <a:lnSpc>
                <a:spcPts val="4002"/>
              </a:lnSpc>
              <a:buFont typeface="Arial"/>
              <a:buChar char="•"/>
            </a:pPr>
            <a:r>
              <a:rPr lang="en-US" b="true" sz="3638" spc="-181">
                <a:solidFill>
                  <a:srgbClr val="30678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Estilos:</a:t>
            </a:r>
            <a:r>
              <a:rPr lang="en-US" sz="3638" spc="-181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 Tailwind CSS 4.</a:t>
            </a:r>
          </a:p>
          <a:p>
            <a:pPr algn="just" marL="785568" indent="-392784" lvl="1">
              <a:lnSpc>
                <a:spcPts val="4002"/>
              </a:lnSpc>
              <a:buFont typeface="Arial"/>
              <a:buChar char="•"/>
            </a:pPr>
            <a:r>
              <a:rPr lang="en-US" b="true" sz="3638" spc="-181">
                <a:solidFill>
                  <a:srgbClr val="30678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Backend y API:</a:t>
            </a:r>
            <a:r>
              <a:rPr lang="en-US" sz="3638" spc="-181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 Route Handlers de Next.js con Node.js 22.</a:t>
            </a:r>
          </a:p>
          <a:p>
            <a:pPr algn="just" marL="785568" indent="-392784" lvl="1">
              <a:lnSpc>
                <a:spcPts val="4002"/>
              </a:lnSpc>
              <a:buFont typeface="Arial"/>
              <a:buChar char="•"/>
            </a:pPr>
            <a:r>
              <a:rPr lang="en-US" b="true" sz="3638" spc="-181">
                <a:solidFill>
                  <a:srgbClr val="30678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Base de datos:</a:t>
            </a:r>
            <a:r>
              <a:rPr lang="en-US" sz="3638" spc="-181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 PostgreSQL 16 y Prisma 7.</a:t>
            </a:r>
          </a:p>
          <a:p>
            <a:pPr algn="just" marL="785568" indent="-392784" lvl="1">
              <a:lnSpc>
                <a:spcPts val="4002"/>
              </a:lnSpc>
              <a:buFont typeface="Arial"/>
              <a:buChar char="•"/>
            </a:pPr>
            <a:r>
              <a:rPr lang="en-US" b="true" sz="3638" spc="-181">
                <a:solidFill>
                  <a:srgbClr val="30678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Seguridad:</a:t>
            </a:r>
            <a:r>
              <a:rPr lang="en-US" sz="3638" spc="-181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 sesiones almacenadas en PostgreSQL y contraseñas protegidas con PBKDF2-HMAC-SHA-256.</a:t>
            </a:r>
          </a:p>
          <a:p>
            <a:pPr algn="just" marL="785568" indent="-392784" lvl="1">
              <a:lnSpc>
                <a:spcPts val="4002"/>
              </a:lnSpc>
              <a:buFont typeface="Arial"/>
              <a:buChar char="•"/>
            </a:pPr>
            <a:r>
              <a:rPr lang="en-US" b="true" sz="3638" spc="-181">
                <a:solidFill>
                  <a:srgbClr val="30678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Servicios externos:</a:t>
            </a:r>
            <a:r>
              <a:rPr lang="en-US" sz="3638" spc="-181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 Upstash Redis para los límites de peticiones en producción y Resend para correos de recuperación.</a:t>
            </a:r>
          </a:p>
          <a:p>
            <a:pPr algn="just" marL="785568" indent="-392784" lvl="1">
              <a:lnSpc>
                <a:spcPts val="4002"/>
              </a:lnSpc>
              <a:buFont typeface="Arial"/>
              <a:buChar char="•"/>
            </a:pPr>
            <a:r>
              <a:rPr lang="en-US" b="true" sz="3638" spc="-181">
                <a:solidFill>
                  <a:srgbClr val="30678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Pruebas:</a:t>
            </a:r>
            <a:r>
              <a:rPr lang="en-US" sz="3638" spc="-181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 Vitest y React Testing Library para pruebas unitarias y de componentes; Playwright para pruebas E2E.</a:t>
            </a:r>
          </a:p>
          <a:p>
            <a:pPr algn="just" marL="785568" indent="-392784" lvl="1">
              <a:lnSpc>
                <a:spcPts val="4002"/>
              </a:lnSpc>
              <a:buFont typeface="Arial"/>
              <a:buChar char="•"/>
            </a:pPr>
            <a:r>
              <a:rPr lang="en-US" b="true" sz="3638" spc="-181">
                <a:solidFill>
                  <a:srgbClr val="30678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Integración continua:</a:t>
            </a:r>
            <a:r>
              <a:rPr lang="en-US" sz="3638" spc="-181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 GitHub Actions. Docker Compose se usa para levantar PostgreSQL en desarrollo local.</a:t>
            </a:r>
          </a:p>
          <a:p>
            <a:pPr algn="just">
              <a:lnSpc>
                <a:spcPts val="400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FF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60500" y="2986808"/>
            <a:ext cx="10628664" cy="6571219"/>
          </a:xfrm>
          <a:custGeom>
            <a:avLst/>
            <a:gdLst/>
            <a:ahLst/>
            <a:cxnLst/>
            <a:rect r="r" b="b" t="t" l="l"/>
            <a:pathLst>
              <a:path h="6571219" w="10628664">
                <a:moveTo>
                  <a:pt x="0" y="0"/>
                </a:moveTo>
                <a:lnTo>
                  <a:pt x="10628664" y="0"/>
                </a:lnTo>
                <a:lnTo>
                  <a:pt x="10628664" y="6571220"/>
                </a:lnTo>
                <a:lnTo>
                  <a:pt x="0" y="65712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753441"/>
            <a:ext cx="9773119" cy="869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7"/>
              </a:lnSpc>
            </a:pPr>
            <a:r>
              <a:rPr lang="en-US" sz="7041" i="true" spc="-211">
                <a:solidFill>
                  <a:srgbClr val="306781"/>
                </a:solidFill>
                <a:latin typeface="Anton Italics"/>
                <a:ea typeface="Anton Italics"/>
                <a:cs typeface="Anton Italics"/>
                <a:sym typeface="Anton Italics"/>
              </a:rPr>
              <a:t>MODELO DE DATOS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98680"/>
            <a:ext cx="6576062" cy="341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07"/>
              </a:lnSpc>
            </a:pPr>
            <a:r>
              <a:rPr lang="en-US" b="true" sz="3161" spc="-158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MASTER EN DESARROLLO CON IA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D7FF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753441"/>
            <a:ext cx="9773119" cy="869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7"/>
              </a:lnSpc>
            </a:pPr>
            <a:r>
              <a:rPr lang="en-US" sz="7041" i="true" spc="-211">
                <a:solidFill>
                  <a:srgbClr val="306781"/>
                </a:solidFill>
                <a:latin typeface="Anton Italics"/>
                <a:ea typeface="Anton Italics"/>
                <a:cs typeface="Anton Italics"/>
                <a:sym typeface="Anton Italics"/>
              </a:rPr>
              <a:t>SEGURIDAD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198680"/>
            <a:ext cx="6576062" cy="341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07"/>
              </a:lnSpc>
            </a:pPr>
            <a:r>
              <a:rPr lang="en-US" b="true" sz="3161" spc="-158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MASTER EN DESARROLLO CON IA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07509" y="2651523"/>
            <a:ext cx="16351791" cy="739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32"/>
              </a:lnSpc>
            </a:pP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La aplicación aplica controles de seguridad en varias capas:</a:t>
            </a:r>
          </a:p>
          <a:p>
            <a:pPr algn="just" marL="634442" indent="-317221" lvl="1">
              <a:lnSpc>
                <a:spcPts val="3232"/>
              </a:lnSpc>
              <a:buFont typeface="Arial"/>
              <a:buChar char="•"/>
            </a:pPr>
            <a:r>
              <a:rPr lang="en-US" b="true" sz="2938" spc="-146">
                <a:solidFill>
                  <a:srgbClr val="30678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Autenticación: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 sesiones en PostgreSQL mediante cookies protegidas. Las contraseñas nuevas se almacenan con PBKDF2-HMAC-SHA-256; los hashes heredados se actualizan al iniciar sesión.</a:t>
            </a:r>
          </a:p>
          <a:p>
            <a:pPr algn="just" marL="634442" indent="-317221" lvl="1">
              <a:lnSpc>
                <a:spcPts val="3232"/>
              </a:lnSpc>
              <a:buFont typeface="Arial"/>
              <a:buChar char="•"/>
            </a:pPr>
            <a:r>
              <a:rPr lang="en-US" b="true" sz="2938" spc="-146">
                <a:solidFill>
                  <a:srgbClr val="30678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Autorización: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 los permisos se verifican en el servidor según el rol. Los clientes no pueden gestionar usuarios ni iluminación, y no reciben datos identificativos de reservas ajenas.</a:t>
            </a:r>
          </a:p>
          <a:p>
            <a:pPr algn="just" marL="634442" indent="-317221" lvl="1">
              <a:lnSpc>
                <a:spcPts val="3232"/>
              </a:lnSpc>
              <a:buFont typeface="Arial"/>
              <a:buChar char="•"/>
            </a:pPr>
            <a:r>
              <a:rPr lang="en-US" b="true" sz="2938" spc="-146">
                <a:solidFill>
                  <a:srgbClr val="30678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Protección de reservas: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 PostgreSQL impide solapamientos activos en la misma pista mediante una restricción de integridad, incluso ante solicitudes concurrentes.</a:t>
            </a:r>
          </a:p>
          <a:p>
            <a:pPr algn="just" marL="634442" indent="-317221" lvl="1">
              <a:lnSpc>
                <a:spcPts val="3232"/>
              </a:lnSpc>
              <a:buFont typeface="Arial"/>
              <a:buChar char="•"/>
            </a:pPr>
            <a:r>
              <a:rPr lang="en-US" b="true" sz="2938" spc="-146">
                <a:solidFill>
                  <a:srgbClr val="30678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Limitación de peticiones: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 hay límites para la API, el login y la recuperación de contraseña. En producción se utiliza Upstash Redis compartido; si no está disponible, la API falla de forma cerrada.</a:t>
            </a:r>
          </a:p>
          <a:p>
            <a:pPr algn="just" marL="634442" indent="-317221" lvl="1">
              <a:lnSpc>
                <a:spcPts val="3232"/>
              </a:lnSpc>
              <a:buFont typeface="Arial"/>
              <a:buChar char="•"/>
            </a:pPr>
            <a:r>
              <a:rPr lang="en-US" b="true" sz="2938" spc="-146">
                <a:solidFill>
                  <a:srgbClr val="30678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Protección de datos: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 los tokens de sesión y restablecimiento se almacenan como hashes; los enlaces de recuperación son temporales y de un solo uso.</a:t>
            </a:r>
          </a:p>
          <a:p>
            <a:pPr algn="just" marL="634442" indent="-317221" lvl="1">
              <a:lnSpc>
                <a:spcPts val="3232"/>
              </a:lnSpc>
              <a:buFont typeface="Arial"/>
              <a:buChar char="•"/>
            </a:pPr>
            <a:r>
              <a:rPr lang="en-US" b="true" sz="2938" spc="-146">
                <a:solidFill>
                  <a:srgbClr val="30678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Comunicaciones y cabeceras: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 producción debe servirse sobre HTTPS. La aplicación aplica CSP y cabeceras como HSTS, X-Frame-Options y X-Content-Type-Options.</a:t>
            </a:r>
          </a:p>
          <a:p>
            <a:pPr algn="just">
              <a:lnSpc>
                <a:spcPts val="3232"/>
              </a:lnSpc>
            </a:pPr>
            <a:r>
              <a:rPr lang="en-US" b="true" sz="2938" spc="-146">
                <a:solidFill>
                  <a:srgbClr val="30678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Nota: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 la seguridad no depende solo del código. También requiere proteger las variables de entorno, configurar correctamente el proxy y no utilizar credenciales de demostración en producción.</a:t>
            </a:r>
          </a:p>
          <a:p>
            <a:pPr algn="just">
              <a:lnSpc>
                <a:spcPts val="323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D7FF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753441"/>
            <a:ext cx="9773119" cy="869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7"/>
              </a:lnSpc>
            </a:pPr>
            <a:r>
              <a:rPr lang="en-US" sz="7041" i="true" spc="-211">
                <a:solidFill>
                  <a:srgbClr val="306781"/>
                </a:solidFill>
                <a:latin typeface="Anton Italics"/>
                <a:ea typeface="Anton Italics"/>
                <a:cs typeface="Anton Italics"/>
                <a:sym typeface="Anton Italics"/>
              </a:rPr>
              <a:t>PRUEBAS Y CALIDAD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198680"/>
            <a:ext cx="6576062" cy="341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07"/>
              </a:lnSpc>
            </a:pPr>
            <a:r>
              <a:rPr lang="en-US" b="true" sz="3161" spc="-158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MASTER EN DESARROLLO CON IA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07509" y="2835971"/>
            <a:ext cx="16351791" cy="534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32"/>
              </a:lnSpc>
            </a:pP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La calidad del proyecto se comprueba en varios niveles:</a:t>
            </a:r>
          </a:p>
          <a:p>
            <a:pPr algn="just" marL="634442" indent="-317221" lvl="1">
              <a:lnSpc>
                <a:spcPts val="3232"/>
              </a:lnSpc>
              <a:buFont typeface="Arial"/>
              <a:buChar char="•"/>
            </a:pPr>
            <a:r>
              <a:rPr lang="en-US" b="true" sz="2938" spc="-146">
                <a:solidFill>
                  <a:srgbClr val="30678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Pruebas unitarias y de componentes: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 Vitest y React Testing Library verifican reglas de negocio, validaciones y comportamiento de la interfaz.</a:t>
            </a:r>
          </a:p>
          <a:p>
            <a:pPr algn="just" marL="634442" indent="-317221" lvl="1">
              <a:lnSpc>
                <a:spcPts val="3232"/>
              </a:lnSpc>
              <a:buFont typeface="Arial"/>
              <a:buChar char="•"/>
            </a:pPr>
            <a:r>
              <a:rPr lang="en-US" b="true" sz="2938" spc="-146">
                <a:solidFill>
                  <a:srgbClr val="30678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Pruebas de integración: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 se ejecutan contra PostgreSQL para comprobar, entre otros casos, que dos reservas simultáneas no puedan solaparse en la misma pista.</a:t>
            </a:r>
          </a:p>
          <a:p>
            <a:pPr algn="just" marL="634442" indent="-317221" lvl="1">
              <a:lnSpc>
                <a:spcPts val="3232"/>
              </a:lnSpc>
              <a:buFont typeface="Arial"/>
              <a:buChar char="•"/>
            </a:pPr>
            <a:r>
              <a:rPr lang="en-US" b="true" sz="2938" spc="-146">
                <a:solidFill>
                  <a:srgbClr val="30678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Pruebas E2E: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 Playwright comprueba flujos completos en Chromium, como el acceso, la agenda y la recuperación de contraseña.</a:t>
            </a:r>
          </a:p>
          <a:p>
            <a:pPr algn="just" marL="634442" indent="-317221" lvl="1">
              <a:lnSpc>
                <a:spcPts val="3232"/>
              </a:lnSpc>
              <a:buFont typeface="Arial"/>
              <a:buChar char="•"/>
            </a:pPr>
            <a:r>
              <a:rPr lang="en-US" b="true" sz="2938" spc="-146">
                <a:solidFill>
                  <a:srgbClr val="30678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Integración continua: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 GitHub Actions ejecuta migraciones, pruebas, análisis de código y compilación ante cambios en el repositorio.</a:t>
            </a:r>
          </a:p>
          <a:p>
            <a:pPr algn="just">
              <a:lnSpc>
                <a:spcPts val="3232"/>
              </a:lnSpc>
            </a:pP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Antes de publicar una versión se ejecutan npm run lint, npm test, npm run test:integration, npm run build y npm run test:e2e. Sólo presenta resultados y cifras de pruebas que hayas vuelto a ejecutar para la versión final.</a:t>
            </a:r>
          </a:p>
          <a:p>
            <a:pPr algn="just">
              <a:lnSpc>
                <a:spcPts val="323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FF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9990" y="3484395"/>
            <a:ext cx="5008411" cy="6073633"/>
          </a:xfrm>
          <a:custGeom>
            <a:avLst/>
            <a:gdLst/>
            <a:ahLst/>
            <a:cxnLst/>
            <a:rect r="r" b="b" t="t" l="l"/>
            <a:pathLst>
              <a:path h="6073633" w="5008411">
                <a:moveTo>
                  <a:pt x="0" y="0"/>
                </a:moveTo>
                <a:lnTo>
                  <a:pt x="5008411" y="0"/>
                </a:lnTo>
                <a:lnTo>
                  <a:pt x="5008411" y="6073633"/>
                </a:lnTo>
                <a:lnTo>
                  <a:pt x="0" y="6073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753441"/>
            <a:ext cx="9773119" cy="869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7"/>
              </a:lnSpc>
            </a:pPr>
            <a:r>
              <a:rPr lang="en-US" sz="7041" i="true" spc="-211">
                <a:solidFill>
                  <a:srgbClr val="306781"/>
                </a:solidFill>
                <a:latin typeface="Anton Italics"/>
                <a:ea typeface="Anton Italics"/>
                <a:cs typeface="Anton Italics"/>
                <a:sym typeface="Anton Italics"/>
              </a:rPr>
              <a:t>DEMOSTRACIÓN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98680"/>
            <a:ext cx="6576062" cy="341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07"/>
              </a:lnSpc>
            </a:pPr>
            <a:r>
              <a:rPr lang="en-US" b="true" sz="3161" spc="-158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MASTER EN DESARROLLO CON IA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9990" y="2539290"/>
            <a:ext cx="1717834" cy="945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7"/>
              </a:lnSpc>
              <a:spcBef>
                <a:spcPct val="0"/>
              </a:spcBef>
            </a:pPr>
            <a:r>
              <a:rPr lang="en-US" sz="5541" i="true" spc="-166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Login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64272" y="3503445"/>
            <a:ext cx="11095028" cy="493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32"/>
              </a:lnSpc>
            </a:pP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La pantalla de acceso permite iniciar s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es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ión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co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 cor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eo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 y cont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ras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ña. Tra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 autenticarse, la aplicación identifica el rol del usuario (CUSTOMER o ADMIN) y muestra las f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unci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es autorizadas para cada uno. Si se olvida la contraseña, se puede solicita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r 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un enlace temporal de recuperación.</a:t>
            </a:r>
          </a:p>
          <a:p>
            <a:pPr algn="just">
              <a:lnSpc>
                <a:spcPts val="3232"/>
              </a:lnSpc>
            </a:pP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Qué puedes explicar al prese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nta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rl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a:</a:t>
            </a:r>
          </a:p>
          <a:p>
            <a:pPr algn="just" marL="634442" indent="-317221" lvl="1">
              <a:lnSpc>
                <a:spcPts val="3232"/>
              </a:lnSpc>
              <a:buFont typeface="Arial"/>
              <a:buChar char="•"/>
            </a:pP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Las contraseñas se almacenan como hashes PBKDF2, no en texto legible.</a:t>
            </a:r>
          </a:p>
          <a:p>
            <a:pPr algn="just" marL="634442" indent="-317221" lvl="1">
              <a:lnSpc>
                <a:spcPts val="3232"/>
              </a:lnSpc>
              <a:buFont typeface="Arial"/>
              <a:buChar char="•"/>
            </a:pP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El acc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eso utiliza sesiones protegidas.</a:t>
            </a:r>
          </a:p>
          <a:p>
            <a:pPr algn="just" marL="634442" indent="-317221" lvl="1">
              <a:lnSpc>
                <a:spcPts val="3232"/>
              </a:lnSpc>
              <a:buFont typeface="Arial"/>
              <a:buChar char="•"/>
            </a:pP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Los permisos se comprueban en el servidor; ocultar una opción en pantalla no es el único control de seguridad.</a:t>
            </a:r>
          </a:p>
          <a:p>
            <a:pPr algn="just">
              <a:lnSpc>
                <a:spcPts val="323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FF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3878" y="3668656"/>
            <a:ext cx="9782271" cy="4952220"/>
          </a:xfrm>
          <a:custGeom>
            <a:avLst/>
            <a:gdLst/>
            <a:ahLst/>
            <a:cxnLst/>
            <a:rect r="r" b="b" t="t" l="l"/>
            <a:pathLst>
              <a:path h="4952220" w="9782271">
                <a:moveTo>
                  <a:pt x="0" y="0"/>
                </a:moveTo>
                <a:lnTo>
                  <a:pt x="9782270" y="0"/>
                </a:lnTo>
                <a:lnTo>
                  <a:pt x="9782270" y="4952221"/>
                </a:lnTo>
                <a:lnTo>
                  <a:pt x="0" y="49522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24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753441"/>
            <a:ext cx="9773119" cy="869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7"/>
              </a:lnSpc>
            </a:pPr>
            <a:r>
              <a:rPr lang="en-US" sz="7041" i="true" spc="-211">
                <a:solidFill>
                  <a:srgbClr val="306781"/>
                </a:solidFill>
                <a:latin typeface="Anton Italics"/>
                <a:ea typeface="Anton Italics"/>
                <a:cs typeface="Anton Italics"/>
                <a:sym typeface="Anton Italics"/>
              </a:rPr>
              <a:t>DEMOSTRACIÓN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98680"/>
            <a:ext cx="6576062" cy="341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07"/>
              </a:lnSpc>
            </a:pPr>
            <a:r>
              <a:rPr lang="en-US" b="true" sz="3161" spc="-158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MASTER EN DESARROLLO CON IA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12246" y="2499123"/>
            <a:ext cx="11006026" cy="1160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65"/>
              </a:lnSpc>
              <a:spcBef>
                <a:spcPct val="0"/>
              </a:spcBef>
            </a:pPr>
            <a:r>
              <a:rPr lang="en-US" sz="6832" i="true" spc="-204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Principal de administrador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59914" y="3687706"/>
            <a:ext cx="6437721" cy="370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32"/>
              </a:lnSpc>
            </a:pP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La pantalla principal d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el adm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inistrador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 cent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raliza la gestión diaria del club. Desde ella p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uede c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sultar la agenda por fecha y pista, crear o modifica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r res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ervas, acceder a la gestión de clie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nte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s y controlar la iluminación. También muestra un resumen de reserv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s, pendientes y pistas con las luces encendidas.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FF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3878" y="3823278"/>
            <a:ext cx="9840436" cy="6028753"/>
          </a:xfrm>
          <a:custGeom>
            <a:avLst/>
            <a:gdLst/>
            <a:ahLst/>
            <a:cxnLst/>
            <a:rect r="r" b="b" t="t" l="l"/>
            <a:pathLst>
              <a:path h="6028753" w="9840436">
                <a:moveTo>
                  <a:pt x="0" y="0"/>
                </a:moveTo>
                <a:lnTo>
                  <a:pt x="9840436" y="0"/>
                </a:lnTo>
                <a:lnTo>
                  <a:pt x="9840436" y="6028753"/>
                </a:lnTo>
                <a:lnTo>
                  <a:pt x="0" y="60287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753441"/>
            <a:ext cx="9773119" cy="869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7"/>
              </a:lnSpc>
            </a:pPr>
            <a:r>
              <a:rPr lang="en-US" sz="7041" i="true" spc="-211">
                <a:solidFill>
                  <a:srgbClr val="306781"/>
                </a:solidFill>
                <a:latin typeface="Anton Italics"/>
                <a:ea typeface="Anton Italics"/>
                <a:cs typeface="Anton Italics"/>
                <a:sym typeface="Anton Italics"/>
              </a:rPr>
              <a:t>DEMOSTRACIÓN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98680"/>
            <a:ext cx="6576062" cy="341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07"/>
              </a:lnSpc>
            </a:pPr>
            <a:r>
              <a:rPr lang="en-US" b="true" sz="3161" spc="-158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MASTER EN DESARROLLO CON IA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3878" y="2499123"/>
            <a:ext cx="11006026" cy="1159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5"/>
              </a:lnSpc>
              <a:spcBef>
                <a:spcPct val="0"/>
              </a:spcBef>
            </a:pPr>
            <a:r>
              <a:rPr lang="en-US" sz="6832" i="true" spc="-204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Principal del cliente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006026" y="3842328"/>
            <a:ext cx="6437721" cy="370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32"/>
              </a:lnSpc>
            </a:pP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La pantalla principal d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el cl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iente ofrece una vista rápida de las pistas y sus horarios.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 Muest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ra un resumen del día y la agenda semanal; desde ahí, el usuario p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uede e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legir una fecha y crear una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 res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erva propia. Las reservas de otros clie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nte</a:t>
            </a: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s aparecen de forma anonimizada para proteger su privacidad.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FF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3878" y="3668600"/>
            <a:ext cx="9977941" cy="4945335"/>
          </a:xfrm>
          <a:custGeom>
            <a:avLst/>
            <a:gdLst/>
            <a:ahLst/>
            <a:cxnLst/>
            <a:rect r="r" b="b" t="t" l="l"/>
            <a:pathLst>
              <a:path h="4945335" w="9977941">
                <a:moveTo>
                  <a:pt x="0" y="0"/>
                </a:moveTo>
                <a:lnTo>
                  <a:pt x="9977941" y="0"/>
                </a:lnTo>
                <a:lnTo>
                  <a:pt x="9977941" y="4945335"/>
                </a:lnTo>
                <a:lnTo>
                  <a:pt x="0" y="49453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753441"/>
            <a:ext cx="9773119" cy="869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7"/>
              </a:lnSpc>
            </a:pPr>
            <a:r>
              <a:rPr lang="en-US" sz="7041" i="true" spc="-211">
                <a:solidFill>
                  <a:srgbClr val="306781"/>
                </a:solidFill>
                <a:latin typeface="Anton Italics"/>
                <a:ea typeface="Anton Italics"/>
                <a:cs typeface="Anton Italics"/>
                <a:sym typeface="Anton Italics"/>
              </a:rPr>
              <a:t>DEMOSTRACIÓN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98680"/>
            <a:ext cx="6576062" cy="341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07"/>
              </a:lnSpc>
            </a:pPr>
            <a:r>
              <a:rPr lang="en-US" b="true" sz="3161" spc="-158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MASTER EN DESARROLLO CON IA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3878" y="2499123"/>
            <a:ext cx="11006026" cy="1159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5"/>
              </a:lnSpc>
              <a:spcBef>
                <a:spcPct val="0"/>
              </a:spcBef>
            </a:pPr>
            <a:r>
              <a:rPr lang="en-US" sz="6832" i="true" spc="-204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Gestión de reserva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006026" y="3842328"/>
            <a:ext cx="6437721" cy="452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32"/>
              </a:lnSpc>
            </a:pP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La pantalla de gestión de reservas permite al administrador y al cliente revisar y actualizar las reservas desde la agenda. Puede modificar la pista, el cliente, la fecha y hora, el número de jugadores y si se necesita iluminación. También puede actualizar el estado de la reserva y añadir observaciones. El sistema valida los horarios y evita solapamientos activos en la misma pista.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FF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3878" y="3823278"/>
            <a:ext cx="9977941" cy="4028585"/>
          </a:xfrm>
          <a:custGeom>
            <a:avLst/>
            <a:gdLst/>
            <a:ahLst/>
            <a:cxnLst/>
            <a:rect r="r" b="b" t="t" l="l"/>
            <a:pathLst>
              <a:path h="4028585" w="9977941">
                <a:moveTo>
                  <a:pt x="0" y="0"/>
                </a:moveTo>
                <a:lnTo>
                  <a:pt x="9977941" y="0"/>
                </a:lnTo>
                <a:lnTo>
                  <a:pt x="9977941" y="4028585"/>
                </a:lnTo>
                <a:lnTo>
                  <a:pt x="0" y="40285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753441"/>
            <a:ext cx="9773119" cy="869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7"/>
              </a:lnSpc>
            </a:pPr>
            <a:r>
              <a:rPr lang="en-US" sz="7041" i="true" spc="-211">
                <a:solidFill>
                  <a:srgbClr val="306781"/>
                </a:solidFill>
                <a:latin typeface="Anton Italics"/>
                <a:ea typeface="Anton Italics"/>
                <a:cs typeface="Anton Italics"/>
                <a:sym typeface="Anton Italics"/>
              </a:rPr>
              <a:t>DEMOSTRACIÓN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98680"/>
            <a:ext cx="6576062" cy="341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07"/>
              </a:lnSpc>
            </a:pPr>
            <a:r>
              <a:rPr lang="en-US" b="true" sz="3161" spc="-158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MASTER EN DESARROLLO CON IA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3878" y="2499123"/>
            <a:ext cx="11006026" cy="1159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5"/>
              </a:lnSpc>
              <a:spcBef>
                <a:spcPct val="0"/>
              </a:spcBef>
            </a:pPr>
            <a:r>
              <a:rPr lang="en-US" sz="6832" i="true" spc="-204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Gestión de usuarios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006026" y="3842328"/>
            <a:ext cx="6437721" cy="329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32"/>
              </a:lnSpc>
            </a:pP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El administrador puede consultar, crear y editar cuentas desde la sección Clientes. En cada cuenta puede actualizar el nombre, correo, teléfono, rol y, si es necesario, la contraseña. El sistema protege los datos de acceso y evita que se cambie a cliente el único usuario administrador.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D7FF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753441"/>
            <a:ext cx="10718414" cy="869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7"/>
              </a:lnSpc>
            </a:pPr>
            <a:r>
              <a:rPr lang="en-US" sz="7041" i="true" spc="-211">
                <a:solidFill>
                  <a:srgbClr val="306781"/>
                </a:solidFill>
                <a:latin typeface="Anton Italics"/>
                <a:ea typeface="Anton Italics"/>
                <a:cs typeface="Anton Italics"/>
                <a:sym typeface="Anton Italics"/>
              </a:rPr>
              <a:t>CONCLUSIONES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198680"/>
            <a:ext cx="6576062" cy="341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07"/>
              </a:lnSpc>
            </a:pPr>
            <a:r>
              <a:rPr lang="en-US" b="true" sz="3161" spc="-158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MASTER EN DESARROLLO CON IA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07509" y="2835971"/>
            <a:ext cx="16351791" cy="288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32"/>
              </a:lnSpc>
            </a:pPr>
            <a:r>
              <a:rPr lang="en-US" b="true" sz="2938" spc="-146">
                <a:solidFill>
                  <a:srgbClr val="30678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Conclusiones</a:t>
            </a:r>
          </a:p>
          <a:p>
            <a:pPr algn="just" marL="634442" indent="-317221" lvl="1">
              <a:lnSpc>
                <a:spcPts val="3232"/>
              </a:lnSpc>
              <a:buFont typeface="Arial"/>
              <a:buChar char="•"/>
            </a:pP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Se ha desarrollado una aplicación web que centraliza la agenda, las reservas y la gestión de las pistas.</a:t>
            </a:r>
          </a:p>
          <a:p>
            <a:pPr algn="just" marL="634442" indent="-317221" lvl="1">
              <a:lnSpc>
                <a:spcPts val="3232"/>
              </a:lnSpc>
              <a:buFont typeface="Arial"/>
              <a:buChar char="•"/>
            </a:pP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Los permisos por rol y las restricciones de PostgreSQL ayudan a proteger los datos y evitar reservas solapadas.</a:t>
            </a:r>
          </a:p>
          <a:p>
            <a:pPr algn="just" marL="634442" indent="-317221" lvl="1">
              <a:lnSpc>
                <a:spcPts val="3232"/>
              </a:lnSpc>
              <a:buFont typeface="Arial"/>
              <a:buChar char="•"/>
            </a:pPr>
            <a:r>
              <a:rPr lang="en-US" sz="2938" spc="-146">
                <a:solidFill>
                  <a:srgbClr val="306781"/>
                </a:solidFill>
                <a:latin typeface="Open Sauce"/>
                <a:ea typeface="Open Sauce"/>
                <a:cs typeface="Open Sauce"/>
                <a:sym typeface="Open Sauce"/>
              </a:rPr>
              <a:t>La arquitectura modular y las pruebas facilitan el mantenimiento y la evolución del sistema.</a:t>
            </a:r>
          </a:p>
          <a:p>
            <a:pPr algn="just">
              <a:lnSpc>
                <a:spcPts val="323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D7FF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7509" y="2835971"/>
            <a:ext cx="16351791" cy="1246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32"/>
              </a:lnSpc>
              <a:spcBef>
                <a:spcPct val="0"/>
              </a:spcBef>
            </a:pPr>
            <a:r>
              <a:rPr lang="en-US" b="true" sz="2938" spc="-146">
                <a:solidFill>
                  <a:srgbClr val="30678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E</a:t>
            </a:r>
            <a:r>
              <a:rPr lang="en-US" b="true" sz="2938" spc="-146">
                <a:solidFill>
                  <a:srgbClr val="30678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spero que la presentación les haya resultado interesante. A mí me ha gustado mucho desarrollar esta aplicación y aprender durante el proceso. Muchas gracias por su atención; quedo a su disposición para responder sus preguntas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DAHZYQUkA9M</dc:identifier>
  <dcterms:modified xsi:type="dcterms:W3CDTF">2011-08-01T06:04:30Z</dcterms:modified>
  <cp:revision>1</cp:revision>
  <dc:title>Pistas padel</dc:title>
</cp:coreProperties>
</file>